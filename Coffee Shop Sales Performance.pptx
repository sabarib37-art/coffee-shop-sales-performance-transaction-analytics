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EA9F54-6126-442F-913B-56FB244C4FE4}" v="11" dt="2026-10-21T05:40:11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ari B" userId="237c1414fd7913bc" providerId="LiveId" clId="{04BBB320-E829-4EA1-85D4-B9E22701EC49}"/>
    <pc:docChg chg="undo redo custSel addSld modSld sldOrd">
      <pc:chgData name="Sabari B" userId="237c1414fd7913bc" providerId="LiveId" clId="{04BBB320-E829-4EA1-85D4-B9E22701EC49}" dt="2026-10-21T05:40:26.896" v="260" actId="14100"/>
      <pc:docMkLst>
        <pc:docMk/>
      </pc:docMkLst>
      <pc:sldChg chg="addSp delSp modSp mod">
        <pc:chgData name="Sabari B" userId="237c1414fd7913bc" providerId="LiveId" clId="{04BBB320-E829-4EA1-85D4-B9E22701EC49}" dt="2026-10-21T05:00:02.023" v="199"/>
        <pc:sldMkLst>
          <pc:docMk/>
          <pc:sldMk cId="2093701925" sldId="257"/>
        </pc:sldMkLst>
        <pc:spChg chg="mod">
          <ac:chgData name="Sabari B" userId="237c1414fd7913bc" providerId="LiveId" clId="{04BBB320-E829-4EA1-85D4-B9E22701EC49}" dt="2026-10-16T15:04:01.127" v="1"/>
          <ac:spMkLst>
            <pc:docMk/>
            <pc:sldMk cId="2093701925" sldId="257"/>
            <ac:spMk id="2" creationId="{35CC551D-3934-52B3-5011-1A0523BC3C0D}"/>
          </ac:spMkLst>
        </pc:spChg>
        <pc:spChg chg="add del mod">
          <ac:chgData name="Sabari B" userId="237c1414fd7913bc" providerId="LiveId" clId="{04BBB320-E829-4EA1-85D4-B9E22701EC49}" dt="2026-10-21T05:00:02.023" v="199"/>
          <ac:spMkLst>
            <pc:docMk/>
            <pc:sldMk cId="2093701925" sldId="257"/>
            <ac:spMk id="3" creationId="{FD60E38E-6A23-9AD4-EEBF-0BAEFDE7BD40}"/>
          </ac:spMkLst>
        </pc:spChg>
        <pc:spChg chg="mod">
          <ac:chgData name="Sabari B" userId="237c1414fd7913bc" providerId="LiveId" clId="{04BBB320-E829-4EA1-85D4-B9E22701EC49}" dt="2026-10-21T04:59:25.928" v="196"/>
          <ac:spMkLst>
            <pc:docMk/>
            <pc:sldMk cId="2093701925" sldId="257"/>
            <ac:spMk id="11" creationId="{D3E1E5A7-7FED-961F-5DC5-8A061DA97EED}"/>
          </ac:spMkLst>
        </pc:spChg>
      </pc:sldChg>
      <pc:sldChg chg="modSp mod">
        <pc:chgData name="Sabari B" userId="237c1414fd7913bc" providerId="LiveId" clId="{04BBB320-E829-4EA1-85D4-B9E22701EC49}" dt="2026-10-21T05:01:21.057" v="216" actId="6549"/>
        <pc:sldMkLst>
          <pc:docMk/>
          <pc:sldMk cId="2210402917" sldId="258"/>
        </pc:sldMkLst>
        <pc:spChg chg="mod">
          <ac:chgData name="Sabari B" userId="237c1414fd7913bc" providerId="LiveId" clId="{04BBB320-E829-4EA1-85D4-B9E22701EC49}" dt="2026-10-16T15:06:41.763" v="3"/>
          <ac:spMkLst>
            <pc:docMk/>
            <pc:sldMk cId="2210402917" sldId="258"/>
            <ac:spMk id="2" creationId="{30EE255F-55E5-6FF7-B645-3AA21B651A98}"/>
          </ac:spMkLst>
        </pc:spChg>
        <pc:spChg chg="mod">
          <ac:chgData name="Sabari B" userId="237c1414fd7913bc" providerId="LiveId" clId="{04BBB320-E829-4EA1-85D4-B9E22701EC49}" dt="2026-10-21T05:01:21.057" v="216" actId="6549"/>
          <ac:spMkLst>
            <pc:docMk/>
            <pc:sldMk cId="2210402917" sldId="258"/>
            <ac:spMk id="3" creationId="{50D18C61-D0C3-921D-68FD-7750B9B08081}"/>
          </ac:spMkLst>
        </pc:spChg>
      </pc:sldChg>
      <pc:sldChg chg="modSp mod">
        <pc:chgData name="Sabari B" userId="237c1414fd7913bc" providerId="LiveId" clId="{04BBB320-E829-4EA1-85D4-B9E22701EC49}" dt="2026-10-17T04:54:48.658" v="36" actId="20577"/>
        <pc:sldMkLst>
          <pc:docMk/>
          <pc:sldMk cId="3133325241" sldId="259"/>
        </pc:sldMkLst>
        <pc:spChg chg="mod">
          <ac:chgData name="Sabari B" userId="237c1414fd7913bc" providerId="LiveId" clId="{04BBB320-E829-4EA1-85D4-B9E22701EC49}" dt="2026-10-16T15:12:52.855" v="9"/>
          <ac:spMkLst>
            <pc:docMk/>
            <pc:sldMk cId="3133325241" sldId="259"/>
            <ac:spMk id="2" creationId="{1A61E532-73A6-47B7-2220-93620FD15ECB}"/>
          </ac:spMkLst>
        </pc:spChg>
        <pc:spChg chg="mod">
          <ac:chgData name="Sabari B" userId="237c1414fd7913bc" providerId="LiveId" clId="{04BBB320-E829-4EA1-85D4-B9E22701EC49}" dt="2026-10-17T04:54:48.658" v="36" actId="20577"/>
          <ac:spMkLst>
            <pc:docMk/>
            <pc:sldMk cId="3133325241" sldId="259"/>
            <ac:spMk id="3" creationId="{9AC33173-DE27-C890-F55B-D08DC187385E}"/>
          </ac:spMkLst>
        </pc:spChg>
      </pc:sldChg>
      <pc:sldChg chg="addSp delSp modSp mod">
        <pc:chgData name="Sabari B" userId="237c1414fd7913bc" providerId="LiveId" clId="{04BBB320-E829-4EA1-85D4-B9E22701EC49}" dt="2026-10-21T05:04:28.693" v="219" actId="5793"/>
        <pc:sldMkLst>
          <pc:docMk/>
          <pc:sldMk cId="381019890" sldId="260"/>
        </pc:sldMkLst>
        <pc:spChg chg="mod">
          <ac:chgData name="Sabari B" userId="237c1414fd7913bc" providerId="LiveId" clId="{04BBB320-E829-4EA1-85D4-B9E22701EC49}" dt="2026-10-17T07:32:07.796" v="192" actId="20577"/>
          <ac:spMkLst>
            <pc:docMk/>
            <pc:sldMk cId="381019890" sldId="260"/>
            <ac:spMk id="2" creationId="{32AA9037-39FF-75F3-7AEB-25756DEE2D4C}"/>
          </ac:spMkLst>
        </pc:spChg>
        <pc:spChg chg="del mod">
          <ac:chgData name="Sabari B" userId="237c1414fd7913bc" providerId="LiveId" clId="{04BBB320-E829-4EA1-85D4-B9E22701EC49}" dt="2026-10-21T05:04:17.176" v="217" actId="478"/>
          <ac:spMkLst>
            <pc:docMk/>
            <pc:sldMk cId="381019890" sldId="260"/>
            <ac:spMk id="3" creationId="{00419C70-2D50-BD7F-E2A0-A2D3EE80E4EB}"/>
          </ac:spMkLst>
        </pc:spChg>
        <pc:spChg chg="add mod">
          <ac:chgData name="Sabari B" userId="237c1414fd7913bc" providerId="LiveId" clId="{04BBB320-E829-4EA1-85D4-B9E22701EC49}" dt="2026-10-21T05:04:28.693" v="219" actId="5793"/>
          <ac:spMkLst>
            <pc:docMk/>
            <pc:sldMk cId="381019890" sldId="260"/>
            <ac:spMk id="5" creationId="{822E35EF-FEB6-4C8B-6976-713A86A160FD}"/>
          </ac:spMkLst>
        </pc:spChg>
      </pc:sldChg>
      <pc:sldChg chg="modSp mod">
        <pc:chgData name="Sabari B" userId="237c1414fd7913bc" providerId="LiveId" clId="{04BBB320-E829-4EA1-85D4-B9E22701EC49}" dt="2026-10-17T01:20:38.819" v="29" actId="14100"/>
        <pc:sldMkLst>
          <pc:docMk/>
          <pc:sldMk cId="2240236201" sldId="261"/>
        </pc:sldMkLst>
        <pc:spChg chg="mod">
          <ac:chgData name="Sabari B" userId="237c1414fd7913bc" providerId="LiveId" clId="{04BBB320-E829-4EA1-85D4-B9E22701EC49}" dt="2026-10-16T15:24:07.134" v="15"/>
          <ac:spMkLst>
            <pc:docMk/>
            <pc:sldMk cId="2240236201" sldId="261"/>
            <ac:spMk id="2" creationId="{58A948E8-9EE4-11F2-3651-F39ADA2C5E95}"/>
          </ac:spMkLst>
        </pc:spChg>
        <pc:picChg chg="mod">
          <ac:chgData name="Sabari B" userId="237c1414fd7913bc" providerId="LiveId" clId="{04BBB320-E829-4EA1-85D4-B9E22701EC49}" dt="2026-10-17T01:20:38.819" v="29" actId="14100"/>
          <ac:picMkLst>
            <pc:docMk/>
            <pc:sldMk cId="2240236201" sldId="261"/>
            <ac:picMk id="5" creationId="{B0F75A8C-B25F-1558-6698-8A7AAD72D1BF}"/>
          </ac:picMkLst>
        </pc:picChg>
      </pc:sldChg>
      <pc:sldChg chg="modSp mod">
        <pc:chgData name="Sabari B" userId="237c1414fd7913bc" providerId="LiveId" clId="{04BBB320-E829-4EA1-85D4-B9E22701EC49}" dt="2026-10-21T05:38:22.862" v="235" actId="5793"/>
        <pc:sldMkLst>
          <pc:docMk/>
          <pc:sldMk cId="2749357667" sldId="262"/>
        </pc:sldMkLst>
        <pc:spChg chg="mod">
          <ac:chgData name="Sabari B" userId="237c1414fd7913bc" providerId="LiveId" clId="{04BBB320-E829-4EA1-85D4-B9E22701EC49}" dt="2026-10-16T15:24:57.096" v="16"/>
          <ac:spMkLst>
            <pc:docMk/>
            <pc:sldMk cId="2749357667" sldId="262"/>
            <ac:spMk id="2" creationId="{A26C25F0-541C-4DFA-B302-C14893E69A76}"/>
          </ac:spMkLst>
        </pc:spChg>
        <pc:spChg chg="mod">
          <ac:chgData name="Sabari B" userId="237c1414fd7913bc" providerId="LiveId" clId="{04BBB320-E829-4EA1-85D4-B9E22701EC49}" dt="2026-10-21T05:38:22.862" v="235" actId="5793"/>
          <ac:spMkLst>
            <pc:docMk/>
            <pc:sldMk cId="2749357667" sldId="262"/>
            <ac:spMk id="3" creationId="{CAB5580A-E166-92D1-D4D4-BC31A15579B9}"/>
          </ac:spMkLst>
        </pc:spChg>
      </pc:sldChg>
      <pc:sldChg chg="delSp modSp mod">
        <pc:chgData name="Sabari B" userId="237c1414fd7913bc" providerId="LiveId" clId="{04BBB320-E829-4EA1-85D4-B9E22701EC49}" dt="2026-10-21T05:39:17.233" v="241" actId="1076"/>
        <pc:sldMkLst>
          <pc:docMk/>
          <pc:sldMk cId="2672362096" sldId="263"/>
        </pc:sldMkLst>
        <pc:spChg chg="mod">
          <ac:chgData name="Sabari B" userId="237c1414fd7913bc" providerId="LiveId" clId="{04BBB320-E829-4EA1-85D4-B9E22701EC49}" dt="2026-10-21T05:39:17.233" v="241" actId="1076"/>
          <ac:spMkLst>
            <pc:docMk/>
            <pc:sldMk cId="2672362096" sldId="263"/>
            <ac:spMk id="3" creationId="{711F30CF-1BEC-AEB2-7C5B-CB7A36EF5912}"/>
          </ac:spMkLst>
        </pc:spChg>
      </pc:sldChg>
      <pc:sldChg chg="modSp mod ord">
        <pc:chgData name="Sabari B" userId="237c1414fd7913bc" providerId="LiveId" clId="{04BBB320-E829-4EA1-85D4-B9E22701EC49}" dt="2026-10-21T05:40:26.896" v="260" actId="14100"/>
        <pc:sldMkLst>
          <pc:docMk/>
          <pc:sldMk cId="562721944" sldId="264"/>
        </pc:sldMkLst>
        <pc:spChg chg="mod">
          <ac:chgData name="Sabari B" userId="237c1414fd7913bc" providerId="LiveId" clId="{04BBB320-E829-4EA1-85D4-B9E22701EC49}" dt="2026-10-16T16:45:01.969" v="24"/>
          <ac:spMkLst>
            <pc:docMk/>
            <pc:sldMk cId="562721944" sldId="264"/>
            <ac:spMk id="2" creationId="{9BF3167B-CBC0-D5AB-6EF2-03518CC7E795}"/>
          </ac:spMkLst>
        </pc:spChg>
        <pc:spChg chg="mod">
          <ac:chgData name="Sabari B" userId="237c1414fd7913bc" providerId="LiveId" clId="{04BBB320-E829-4EA1-85D4-B9E22701EC49}" dt="2026-10-21T05:40:26.896" v="260" actId="14100"/>
          <ac:spMkLst>
            <pc:docMk/>
            <pc:sldMk cId="562721944" sldId="264"/>
            <ac:spMk id="3" creationId="{B322AFF1-54D0-7A41-8C1A-64F3FAC7D7E9}"/>
          </ac:spMkLst>
        </pc:spChg>
      </pc:sldChg>
      <pc:sldChg chg="modSp new mod">
        <pc:chgData name="Sabari B" userId="237c1414fd7913bc" providerId="LiveId" clId="{04BBB320-E829-4EA1-85D4-B9E22701EC49}" dt="2026-10-17T05:06:54.753" v="153" actId="20577"/>
        <pc:sldMkLst>
          <pc:docMk/>
          <pc:sldMk cId="3810294131" sldId="266"/>
        </pc:sldMkLst>
        <pc:spChg chg="mod">
          <ac:chgData name="Sabari B" userId="237c1414fd7913bc" providerId="LiveId" clId="{04BBB320-E829-4EA1-85D4-B9E22701EC49}" dt="2026-10-17T05:03:46.158" v="54" actId="20577"/>
          <ac:spMkLst>
            <pc:docMk/>
            <pc:sldMk cId="3810294131" sldId="266"/>
            <ac:spMk id="2" creationId="{E94041C4-F6DC-FAEC-4F6D-79C58620CC24}"/>
          </ac:spMkLst>
        </pc:spChg>
        <pc:spChg chg="mod">
          <ac:chgData name="Sabari B" userId="237c1414fd7913bc" providerId="LiveId" clId="{04BBB320-E829-4EA1-85D4-B9E22701EC49}" dt="2026-10-17T05:06:54.753" v="153" actId="20577"/>
          <ac:spMkLst>
            <pc:docMk/>
            <pc:sldMk cId="3810294131" sldId="266"/>
            <ac:spMk id="3" creationId="{4ABCBF5D-305B-F4FB-7C2E-004F3032A7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96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2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59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313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36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04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5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0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5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97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08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517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426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823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944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539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91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60E1975-3B59-49DC-8946-33BB8B40BE8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FA175-2DEB-4BD8-8679-D8DEFBB9E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041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35C8-2312-5E79-60BC-6F93C4D62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513" y="1122363"/>
            <a:ext cx="8825658" cy="3329581"/>
          </a:xfrm>
        </p:spPr>
        <p:txBody>
          <a:bodyPr>
            <a:normAutofit/>
          </a:bodyPr>
          <a:lstStyle/>
          <a:p>
            <a:r>
              <a:rPr lang="en-IN" sz="4400" dirty="0">
                <a:ea typeface="ADLaM Display" panose="02010000000000000000" pitchFamily="2" charset="0"/>
                <a:cs typeface="ADLaM Display" panose="02010000000000000000" pitchFamily="2" charset="0"/>
              </a:rPr>
              <a:t>Coffee Shop Sales Performance</a:t>
            </a:r>
            <a:br>
              <a:rPr lang="en-IN" sz="4400" dirty="0"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4400" dirty="0">
                <a:ea typeface="ADLaM Display" panose="02010000000000000000" pitchFamily="2" charset="0"/>
                <a:cs typeface="ADLaM Display" panose="02010000000000000000" pitchFamily="2" charset="0"/>
              </a:rPr>
              <a:t>                    &amp;</a:t>
            </a:r>
            <a:br>
              <a:rPr lang="en-IN" sz="4400" dirty="0"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4400" dirty="0">
                <a:ea typeface="ADLaM Display" panose="02010000000000000000" pitchFamily="2" charset="0"/>
                <a:cs typeface="ADLaM Display" panose="02010000000000000000" pitchFamily="2" charset="0"/>
              </a:rPr>
              <a:t>Transaction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F963C-4BD3-21AC-14D4-71A5C5FE0465}"/>
              </a:ext>
            </a:extLst>
          </p:cNvPr>
          <p:cNvSpPr txBox="1"/>
          <p:nvPr/>
        </p:nvSpPr>
        <p:spPr>
          <a:xfrm>
            <a:off x="8082116" y="5126939"/>
            <a:ext cx="30252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Sabari B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         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72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551D-3934-52B3-5011-1A0523BC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dirty="0"/>
            </a:br>
            <a:r>
              <a:rPr lang="en-IN" sz="3600" dirty="0"/>
              <a:t>Business Problem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3E1E5A7-7FED-961F-5DC5-8A061DA97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The coffee shop generated $698,780.73 in revenue from January to June 2023.</a:t>
            </a:r>
          </a:p>
          <a:p>
            <a:pPr lvl="0"/>
            <a:r>
              <a:rPr lang="en-IN" dirty="0"/>
              <a:t>Monthly revenue varied, with February recording the lowest revenue of $76,145.19.</a:t>
            </a:r>
          </a:p>
          <a:p>
            <a:pPr lvl="0"/>
            <a:r>
              <a:rPr lang="en-IN" dirty="0"/>
              <a:t>June recorded the highest monthly revenue of $166,485.88.</a:t>
            </a:r>
          </a:p>
          <a:p>
            <a:pPr lvl="0"/>
            <a:r>
              <a:rPr lang="en-IN" dirty="0"/>
              <a:t>Management needs to understand how transaction volume and quantity sold relate to monthly revenue changes.</a:t>
            </a:r>
          </a:p>
          <a:p>
            <a:pPr lvl="0"/>
            <a:r>
              <a:rPr lang="en-IN" dirty="0"/>
              <a:t>This project </a:t>
            </a:r>
            <a:r>
              <a:rPr lang="en-IN" dirty="0" err="1"/>
              <a:t>analyzes</a:t>
            </a:r>
            <a:r>
              <a:rPr lang="en-IN" dirty="0"/>
              <a:t> monthly sales trends, store performance, and product performance to support better business decisions.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70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255F-55E5-6FF7-B645-3AA21B65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dirty="0"/>
            </a:br>
            <a:r>
              <a:rPr lang="en-IN" sz="3600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18C61-D0C3-921D-68FD-7750B9B0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Dataset: </a:t>
            </a:r>
            <a:r>
              <a:rPr lang="en-IN" dirty="0"/>
              <a:t>Coffee Shop Sales</a:t>
            </a:r>
          </a:p>
          <a:p>
            <a:pPr lvl="0"/>
            <a:r>
              <a:rPr lang="en-IN" b="1" dirty="0"/>
              <a:t>Source: </a:t>
            </a:r>
            <a:r>
              <a:rPr lang="en-IN" dirty="0"/>
              <a:t>Kaggle — Ahmed Mohamed's Coffee Shop Sales dataset</a:t>
            </a:r>
          </a:p>
          <a:p>
            <a:pPr lvl="0"/>
            <a:r>
              <a:rPr lang="en-IN" b="1" dirty="0"/>
              <a:t>Period: </a:t>
            </a:r>
            <a:r>
              <a:rPr lang="en-IN" dirty="0"/>
              <a:t>January – June 2023</a:t>
            </a:r>
          </a:p>
          <a:p>
            <a:pPr lvl="0"/>
            <a:r>
              <a:rPr lang="en-IN" b="1" dirty="0"/>
              <a:t>Original Records: </a:t>
            </a:r>
            <a:r>
              <a:rPr lang="en-IN" dirty="0"/>
              <a:t>1,50,765</a:t>
            </a:r>
          </a:p>
          <a:p>
            <a:pPr lvl="0"/>
            <a:r>
              <a:rPr lang="en-IN" b="1" dirty="0"/>
              <a:t>Records After Cleaning: </a:t>
            </a:r>
            <a:r>
              <a:rPr lang="en-IN" dirty="0"/>
              <a:t>1,49,110</a:t>
            </a:r>
          </a:p>
          <a:p>
            <a:pPr lvl="0"/>
            <a:r>
              <a:rPr lang="en-IN" b="1" dirty="0"/>
              <a:t>Original Columns: </a:t>
            </a:r>
            <a:r>
              <a:rPr lang="en-IN" dirty="0"/>
              <a:t>11</a:t>
            </a:r>
          </a:p>
          <a:p>
            <a:pPr lvl="0"/>
            <a:r>
              <a:rPr lang="en-IN" b="1" dirty="0"/>
              <a:t>Tool Used: </a:t>
            </a:r>
            <a:r>
              <a:rPr lang="en-IN" dirty="0"/>
              <a:t>Microsoft Excel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40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E532-73A6-47B7-2220-93620FD1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dirty="0"/>
            </a:br>
            <a:r>
              <a:rPr lang="en-IN" sz="3600" dirty="0"/>
              <a:t>Data Cleaning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33173-DE27-C890-F55B-D08DC187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Data Inspection: </a:t>
            </a:r>
            <a:r>
              <a:rPr lang="en-IN" dirty="0"/>
              <a:t>Checked the dataset structure and column names.</a:t>
            </a:r>
          </a:p>
          <a:p>
            <a:pPr lvl="0"/>
            <a:r>
              <a:rPr lang="en-IN" b="1" dirty="0"/>
              <a:t>Missing Values: </a:t>
            </a:r>
            <a:r>
              <a:rPr lang="en-IN" dirty="0"/>
              <a:t>Checked for missing data.</a:t>
            </a:r>
          </a:p>
          <a:p>
            <a:pPr lvl="0"/>
            <a:r>
              <a:rPr lang="en-IN" b="1" dirty="0"/>
              <a:t>Duplicate Removal: </a:t>
            </a:r>
            <a:r>
              <a:rPr lang="en-IN" dirty="0"/>
              <a:t>Removed 1,655 duplicate records.</a:t>
            </a:r>
          </a:p>
          <a:p>
            <a:pPr lvl="0"/>
            <a:r>
              <a:rPr lang="en-IN" b="1" dirty="0"/>
              <a:t>Data Type Conversion: </a:t>
            </a:r>
            <a:r>
              <a:rPr lang="en-IN" dirty="0"/>
              <a:t>Corrected the data types of relevant columns.</a:t>
            </a:r>
          </a:p>
          <a:p>
            <a:pPr lvl="0"/>
            <a:r>
              <a:rPr lang="en-IN" b="1" dirty="0"/>
              <a:t>Invalid Value Checking: </a:t>
            </a:r>
            <a:r>
              <a:rPr lang="en-IN" dirty="0"/>
              <a:t>Checked for incorrect or invalid values.</a:t>
            </a:r>
          </a:p>
          <a:p>
            <a:pPr lvl="0"/>
            <a:r>
              <a:rPr lang="en-IN" b="1" dirty="0"/>
              <a:t>Text Standardization: </a:t>
            </a:r>
            <a:r>
              <a:rPr lang="en-IN" dirty="0"/>
              <a:t>Corrected inconsistent text, including “lower manhattan” and “cofee.”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325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41C4-F6DC-FAEC-4F6D-79C58620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b="1" dirty="0"/>
            </a:br>
            <a:r>
              <a:rPr lang="en-IN" sz="3600" b="1" dirty="0"/>
              <a:t>Excel Formulas &amp;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CBF5D-305B-F4FB-7C2E-004F3032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SUM:</a:t>
            </a:r>
            <a:r>
              <a:rPr lang="en-IN" dirty="0"/>
              <a:t> Calculated the total sales revenue.</a:t>
            </a:r>
          </a:p>
          <a:p>
            <a:pPr lvl="0"/>
            <a:r>
              <a:rPr lang="en-IN" b="1" dirty="0"/>
              <a:t>SUMIF:</a:t>
            </a:r>
            <a:r>
              <a:rPr lang="en-IN" dirty="0"/>
              <a:t> Calculated totals based on a single condition. Used for store-wise Revenue. </a:t>
            </a:r>
          </a:p>
          <a:p>
            <a:pPr lvl="0"/>
            <a:r>
              <a:rPr lang="en-IN" b="1" dirty="0"/>
              <a:t>SUMIFS:</a:t>
            </a:r>
            <a:r>
              <a:rPr lang="en-IN" dirty="0"/>
              <a:t> Calculated totals based on multiple conditions. Used for Revenue Level column.</a:t>
            </a:r>
          </a:p>
          <a:p>
            <a:pPr lvl="0"/>
            <a:r>
              <a:rPr lang="en-IN" b="1" dirty="0"/>
              <a:t>AVERAGE:</a:t>
            </a:r>
            <a:r>
              <a:rPr lang="en-IN" dirty="0"/>
              <a:t> Calculated the average revenue value.</a:t>
            </a:r>
          </a:p>
          <a:p>
            <a:pPr lvl="0"/>
            <a:r>
              <a:rPr lang="en-IN" b="1" dirty="0"/>
              <a:t>COUNTIF:</a:t>
            </a:r>
            <a:r>
              <a:rPr lang="en-IN" dirty="0"/>
              <a:t> Counted records that matched a specific condition.</a:t>
            </a:r>
          </a:p>
          <a:p>
            <a:pPr lvl="0"/>
            <a:r>
              <a:rPr lang="en-IN" b="1" dirty="0"/>
              <a:t>Revenue Calculation:</a:t>
            </a:r>
            <a:r>
              <a:rPr lang="en-IN" dirty="0"/>
              <a:t> Quantity × Unit Price.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29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9037-39FF-75F3-7AEB-25756DEE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dirty="0"/>
            </a:br>
            <a:r>
              <a:rPr lang="en-IN" sz="3600" dirty="0"/>
              <a:t>Pivot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2E35EF-FEB6-4C8B-6976-713A86A16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Created PivotTables to summarize sales data.</a:t>
            </a:r>
          </a:p>
          <a:p>
            <a:pPr lvl="0"/>
            <a:r>
              <a:rPr lang="en-IN" dirty="0"/>
              <a:t>Analyzed revenue by store location.</a:t>
            </a:r>
          </a:p>
          <a:p>
            <a:pPr lvl="0"/>
            <a:r>
              <a:rPr lang="en-IN" dirty="0"/>
              <a:t>Compared revenue across product categories.</a:t>
            </a:r>
          </a:p>
          <a:p>
            <a:pPr lvl="0"/>
            <a:r>
              <a:rPr lang="en-IN" dirty="0"/>
              <a:t>Analyzed quantity sold by product type.</a:t>
            </a:r>
          </a:p>
          <a:p>
            <a:pPr lvl="0"/>
            <a:r>
              <a:rPr lang="en-IN" dirty="0"/>
              <a:t>Examined monthly revenue trends.</a:t>
            </a:r>
          </a:p>
          <a:p>
            <a:pPr lvl="0"/>
            <a:r>
              <a:rPr lang="en-IN" dirty="0"/>
              <a:t>Used PivotTables to create PivotCharts and the dashboard.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1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948E8-9EE4-11F2-3651-F39ADA2C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dirty="0"/>
            </a:br>
            <a:r>
              <a:rPr lang="en-IN" sz="3600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F75A8C-B25F-1558-6698-8A7AAD72D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" t="3672"/>
          <a:stretch>
            <a:fillRect/>
          </a:stretch>
        </p:blipFill>
        <p:spPr>
          <a:xfrm>
            <a:off x="0" y="1853248"/>
            <a:ext cx="12192000" cy="500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3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25F0-541C-4DFA-B302-C14893E6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600" dirty="0"/>
            </a:br>
            <a:r>
              <a:rPr lang="en-IN" sz="3600" dirty="0"/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5580A-E166-92D1-D4D4-BC31A1557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insights</a:t>
            </a:r>
          </a:p>
          <a:p>
            <a:pPr lvl="0"/>
            <a:r>
              <a:rPr lang="en-IN" b="1" dirty="0"/>
              <a:t>Monthly Revenue:</a:t>
            </a:r>
            <a:r>
              <a:rPr lang="en-IN" dirty="0"/>
              <a:t> February recorded the lowest revenue of $76,145.19, while June recorded the highest at $166,485.88.</a:t>
            </a:r>
          </a:p>
          <a:p>
            <a:pPr lvl="0"/>
            <a:r>
              <a:rPr lang="en-IN" b="1" dirty="0"/>
              <a:t>Revenue Growth:</a:t>
            </a:r>
            <a:r>
              <a:rPr lang="en-IN" dirty="0"/>
              <a:t> Revenue increased by 31.77% from April to May.</a:t>
            </a:r>
          </a:p>
          <a:p>
            <a:pPr lvl="0"/>
            <a:r>
              <a:rPr lang="en-IN" b="1" dirty="0"/>
              <a:t>Store Performance:</a:t>
            </a:r>
            <a:r>
              <a:rPr lang="en-IN" dirty="0"/>
              <a:t> Hell's Kitchen generated the highest revenue of $236,487.92.</a:t>
            </a:r>
          </a:p>
          <a:p>
            <a:pPr lvl="0"/>
            <a:r>
              <a:rPr lang="en-IN" b="1" dirty="0"/>
              <a:t>Category Performance:</a:t>
            </a:r>
            <a:r>
              <a:rPr lang="en-IN" dirty="0"/>
              <a:t> Coffee generated $269,945.45, contributing approximately 38.6% of total revenue.</a:t>
            </a:r>
          </a:p>
          <a:p>
            <a:pPr lvl="0"/>
            <a:r>
              <a:rPr lang="en-IN" b="1" dirty="0"/>
              <a:t>Product Demand:</a:t>
            </a:r>
            <a:r>
              <a:rPr lang="en-IN" dirty="0"/>
              <a:t> Brewed Chai Tea recorded the highest product-type quantity sold, with 26,248 units.</a:t>
            </a:r>
          </a:p>
          <a:p>
            <a:pPr marL="0" lv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35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F30CF-1BEC-AEB2-7C5B-CB7A36EF5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232" y="1484673"/>
            <a:ext cx="10687535" cy="465514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Business recommendations</a:t>
            </a:r>
          </a:p>
          <a:p>
            <a:pPr lvl="0"/>
            <a:r>
              <a:rPr lang="en-IN" b="1" dirty="0"/>
              <a:t>Investigate Sales Decline:</a:t>
            </a:r>
            <a:r>
              <a:rPr lang="en-IN" dirty="0"/>
              <a:t> Compare February sales across stores and product categories to identify where performance was lower.</a:t>
            </a:r>
          </a:p>
          <a:p>
            <a:pPr lvl="0"/>
            <a:r>
              <a:rPr lang="en-IN" b="1" dirty="0"/>
              <a:t>Study Sales Growth:</a:t>
            </a:r>
            <a:r>
              <a:rPr lang="en-IN" dirty="0"/>
              <a:t> Examine the April-to-May sales breakdown to understand which products and stores contributed most to the increase.</a:t>
            </a:r>
          </a:p>
          <a:p>
            <a:pPr lvl="0"/>
            <a:r>
              <a:rPr lang="en-IN" b="1" dirty="0"/>
              <a:t>Plan Product Stock:</a:t>
            </a:r>
            <a:r>
              <a:rPr lang="en-IN" dirty="0"/>
              <a:t> Use historical sales quantities to plan stock levels for popular products and reduce the risk of stock shortages.</a:t>
            </a:r>
          </a:p>
          <a:p>
            <a:pPr lvl="0"/>
            <a:r>
              <a:rPr lang="en-IN" b="1" dirty="0"/>
              <a:t>Improve Product Planning:</a:t>
            </a:r>
            <a:r>
              <a:rPr lang="en-IN" dirty="0"/>
              <a:t> Review sales performance across product categories to identify opportunities for improvement.</a:t>
            </a:r>
          </a:p>
          <a:p>
            <a:pPr lvl="0"/>
            <a:r>
              <a:rPr lang="en-IN" b="1" dirty="0"/>
              <a:t>Track Future Performance:</a:t>
            </a:r>
            <a:r>
              <a:rPr lang="en-IN" dirty="0"/>
              <a:t> Set monthly sales targets and compare actual results against them.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36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167B-CBC0-D5AB-6EF2-03518CC7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  <a:buSzPct val="80000"/>
            </a:pPr>
            <a:br>
              <a:rPr lang="en-IN" sz="3600" b="1" dirty="0"/>
            </a:br>
            <a:r>
              <a:rPr lang="en-IN" sz="3600" b="1" dirty="0"/>
              <a:t>Conclusion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2AFF1-54D0-7A41-8C1A-64F3FAC7D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404723" cy="4195481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The analysis provides a clear understanding of the coffee shop's overall sales performance.</a:t>
            </a:r>
          </a:p>
          <a:p>
            <a:pPr lvl="0"/>
            <a:r>
              <a:rPr lang="en-IN" dirty="0"/>
              <a:t>Sales data helps management understand business performance across different areas.</a:t>
            </a:r>
          </a:p>
          <a:p>
            <a:pPr lvl="0"/>
            <a:r>
              <a:rPr lang="en-IN" dirty="0"/>
              <a:t>Comparing sales patterns helps identify changes that require further investigation.</a:t>
            </a:r>
          </a:p>
          <a:p>
            <a:pPr lvl="0"/>
            <a:r>
              <a:rPr lang="en-IN" dirty="0"/>
              <a:t>Historical sales information provides a useful basis for evaluating future business performance.</a:t>
            </a:r>
          </a:p>
          <a:p>
            <a:pPr lvl="0"/>
            <a:r>
              <a:rPr lang="en-IN" dirty="0"/>
              <a:t>The findings support more informed business decisions using actual sales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72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98F5-8384-0ED9-F5DD-8B0DD5C6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9" y="2728735"/>
            <a:ext cx="9404723" cy="1400530"/>
          </a:xfrm>
        </p:spPr>
        <p:txBody>
          <a:bodyPr/>
          <a:lstStyle/>
          <a:p>
            <a:r>
              <a:rPr lang="en-IN" sz="6600" dirty="0"/>
              <a:t>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915666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346</TotalTime>
  <Words>573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ADLaM Display</vt:lpstr>
      <vt:lpstr>Arial</vt:lpstr>
      <vt:lpstr>Century Gothic</vt:lpstr>
      <vt:lpstr>Times New Roman</vt:lpstr>
      <vt:lpstr>Wingdings 3</vt:lpstr>
      <vt:lpstr>Ion</vt:lpstr>
      <vt:lpstr>Coffee Shop Sales Performance                     &amp; Transaction Analytics</vt:lpstr>
      <vt:lpstr> Business Problem</vt:lpstr>
      <vt:lpstr> Dataset Overview</vt:lpstr>
      <vt:lpstr> Data Cleaning &amp; Transformation</vt:lpstr>
      <vt:lpstr> Excel Formulas &amp; Analysis </vt:lpstr>
      <vt:lpstr> Pivot Analysis</vt:lpstr>
      <vt:lpstr> Dashboard</vt:lpstr>
      <vt:lpstr> Key Insights &amp; Recommendations</vt:lpstr>
      <vt:lpstr>PowerPoint Presentation</vt:lpstr>
      <vt:lpstr> Conclusion </vt:lpstr>
      <vt:lpstr>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Sabari B</dc:creator>
  <cp:lastModifiedBy>Sabari B</cp:lastModifiedBy>
  <cp:revision>1</cp:revision>
  <dcterms:created xsi:type="dcterms:W3CDTF">2026-10-16T14:44:31Z</dcterms:created>
  <dcterms:modified xsi:type="dcterms:W3CDTF">2026-10-21T05:40:28Z</dcterms:modified>
</cp:coreProperties>
</file>